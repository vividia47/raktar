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ewa8mbsEAMMVeQRIpYAgM+TXA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5b4f491013439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h65b4f4910134399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5b4f4910134399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h65b4f49101343992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65b4f4910134399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65b4f49101343992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65b4f491013439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h65b4f4910134399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65b4f4910134399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65b4f49101343992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65b4f4910134399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65b4f4910134399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65b4f4910134399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65b4f49101343992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65b4f4910134399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65b4f49101343992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65b4f4910134399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65b4f49101343992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65b4f4910134399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65b4f49101343992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hu-HU"/>
              <a:t>Raktárkezelő</a:t>
            </a:r>
            <a:br>
              <a:rPr lang="hu-HU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hu-HU"/>
              <a:t>Webalapú készletnyilvántartó és raktárkezelő rendszer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/>
              <a:t>Készítette: Dobrocsi Zsolt és Tempfli Vivien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A program célja és felépítése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Elsődleges cél a mindennapi munka megkönnyítése egy vállalkozásnál, emellett a készletek védelme jogosulatlan felhasználás vagy elvétel megakadályozása érdekében, illetve a korábbi készletmozgások, aktuális leltár ellenőrzésének segítése.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A program lehetőséget biztosít arra, hogy egy adott raktár termékeit nyilvántartsuk, azok mozgásait rögzítsük. Az egyes raktári műveletek elvégzése csak megfelelő jogosultság birtokában lehetséges.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Az adatbázis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hu-HU"/>
              <a:t>Az adatbázis tervezés lépései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A termékek alap adatainak kezelése mellett, a korábban bemutatott célok megvalósítása érdekében három adattábla került felhasználásra. Ilyen a </a:t>
            </a:r>
            <a:r>
              <a:rPr i="1" lang="hu-HU"/>
              <a:t>felhasználók kezelésére szolgáló</a:t>
            </a:r>
            <a:r>
              <a:rPr lang="hu-HU"/>
              <a:t>, a </a:t>
            </a:r>
            <a:r>
              <a:rPr i="1" lang="hu-HU"/>
              <a:t>termékek nyilvántartását</a:t>
            </a:r>
            <a:r>
              <a:rPr lang="hu-HU"/>
              <a:t> biztosító és a </a:t>
            </a:r>
            <a:r>
              <a:rPr i="1" lang="hu-HU"/>
              <a:t>termékek történetét rögzítő</a:t>
            </a:r>
            <a:r>
              <a:rPr lang="hu-HU"/>
              <a:t> tábla.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A relációs adatbázis alkalmazásának előnye: legfőbb előny a hatékony és átlátható adattárolás, amely biztonságos hozzáférést biztosít azokhoz, ill. csökkenti az adatok ismétlődését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A tárolt információk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/>
              <a:t>Az adatbázisok kialakításánál az adatbázisok méretének minimalizálása érdekében (ezzel csökkentve az adatbázisok méretét és növelve a működés sebességét) csak az előreláthatóan szükséges méretű változókat alkalmaztuk.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/>
              <a:t>A használt adattáblák: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kezelők adatai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termékek adatai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termékek készlet mozgási adatai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Felhasznált technológiák a szerver oldalon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hu-HU"/>
              <a:t>MySQL</a:t>
            </a:r>
            <a:r>
              <a:rPr lang="hu-HU"/>
              <a:t>: Relációs adatbázis-kezelő rendszer; a goods, users és history táblák és a köztük lévő idegenkulcs-kapcsolatok tárolására szolgál.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hu-HU"/>
              <a:t>ASP.NET Core Web API (.NET 10, C#)</a:t>
            </a:r>
            <a:r>
              <a:rPr lang="hu-HU"/>
              <a:t>: A backend futtatókörnyezete és keretrendszere; a REST végpontokat, az üzleti logikát és a hitelesítést valósítja meg.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hu-HU"/>
              <a:t>JWT (JSON WebToken) hitelesítés</a:t>
            </a:r>
            <a:r>
              <a:rPr lang="hu-HU"/>
              <a:t>: A bejelentkezett felhasználó azonosítására és jogosultsági szintjének (szerepkörének) továbbítására szolgál a kliens és a szerver között, állapotmentes módon.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Backend és adatelérés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9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hu-HU"/>
              <a:t>ASP.NET Core és Entity Framework Core</a:t>
            </a:r>
            <a:r>
              <a:rPr lang="hu-HU"/>
              <a:t>: a backend ASP.NET Core Web	API-ként épül fel: ez a keretrendszer adja a HTTP-kiszolgálót, a kérések útvonalválasztását (routing) a vezérlők (Controller) felé,</a:t>
            </a:r>
            <a:endParaRPr/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az </a:t>
            </a:r>
            <a:r>
              <a:rPr b="1" lang="hu-HU"/>
              <a:t>Entity Framework Core </a:t>
            </a:r>
            <a:r>
              <a:rPr lang="hu-HU"/>
              <a:t>ORM-ként azt teszi lehetővé, hogy az adatbázis-táblákat (goods, users, history) közönséges C# osztályokként (entitásokként) kezeljük, és a lekérdezéseket LINQ-kifejezésekkel írjuk meg SQL helyett - az EF Core fordítja ezeket a háttérben tényleges SQL-utasításokká.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Hitelesítés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hu-HU" sz="2400"/>
              <a:t>A felhasználók azonosítására a projekt </a:t>
            </a:r>
            <a:r>
              <a:rPr b="1" lang="hu-HU" sz="2400"/>
              <a:t>JSON Web Token (JWT) </a:t>
            </a:r>
            <a:r>
              <a:rPr lang="hu-HU" sz="2400"/>
              <a:t>alapú, állapotmentes hitelesítést használ: bejelentkezéskor a szerver egy digitálisan aláírt tokent állít elő, amely a felhasználó azonosítóját és szerepkörét kódolja, és amelyet a kliens minden további kérésnél visszaküld. Ennek előnye, hogy a szervernek nem kell munkamenet-állapotot tárolnia — a token önmagában tartalmazza az ellenőrzéshez szükséges információt, és a lejárati idejét 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hu-HU" sz="2400"/>
              <a:t>A jelszavak biztonságos tárolásához a projekt az </a:t>
            </a:r>
            <a:r>
              <a:rPr b="1" lang="hu-HU" sz="2400"/>
              <a:t>ASP.NET Core Identity </a:t>
            </a:r>
            <a:r>
              <a:rPr lang="hu-HU" sz="2400"/>
              <a:t>keretrendszer PasswordHasher&lt;T&gt; osztályát használja a teljes Identity-rendszer bevezetése nélkül; ez egy jól tesztelt, iparági szabványnak megfelelő egyirányú hashelő algoritmust biztosít, sózással (salt) együtt, így két azonos jelszó is eltérő hash-értéket kap.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65b4f4910134399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Frontend</a:t>
            </a:r>
            <a:endParaRPr/>
          </a:p>
        </p:txBody>
      </p:sp>
      <p:sp>
        <p:nvSpPr>
          <p:cNvPr id="127" name="Google Shape;127;h65b4f49101343992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hu-HU" sz="2400"/>
              <a:t>A frontend</a:t>
            </a:r>
            <a:r>
              <a:rPr b="1" lang="hu-HU" sz="2400"/>
              <a:t> HTML5, CSS3 és JavaScript</a:t>
            </a:r>
            <a:r>
              <a:rPr lang="hu-HU" sz="2400"/>
              <a:t> technológiákra épül, a megjelenéshez </a:t>
            </a:r>
            <a:r>
              <a:rPr b="1" lang="hu-HU" sz="2400"/>
              <a:t>Bootstrap 5</a:t>
            </a:r>
            <a:r>
              <a:rPr lang="hu-HU" sz="2400"/>
              <a:t> és </a:t>
            </a:r>
            <a:r>
              <a:rPr b="1" lang="hu-HU" sz="2400"/>
              <a:t>Bootstrap Icons</a:t>
            </a:r>
            <a:r>
              <a:rPr lang="hu-HU" sz="2400"/>
              <a:t> használatával. A felület feladata a felhasználói műveletek kezelése, az adatok megjelenítése, valamint a backenddel történő kommunikáció.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hu-HU" sz="2400"/>
              <a:t>Az alkalmazás főbb oldalai: </a:t>
            </a:r>
            <a:endParaRPr sz="2400"/>
          </a:p>
          <a:p>
            <a:pPr indent="-266700" lvl="1" marL="6858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Bejelentkezés és kezdőoldal</a:t>
            </a:r>
            <a:endParaRPr/>
          </a:p>
          <a:p>
            <a:pPr indent="-266700" lvl="1" marL="6858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Termékek</a:t>
            </a:r>
            <a:endParaRPr/>
          </a:p>
          <a:p>
            <a:pPr indent="-266700" lvl="1" marL="6858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Készletmozgások rögzítése</a:t>
            </a:r>
            <a:endParaRPr/>
          </a:p>
          <a:p>
            <a:pPr indent="-266700" lvl="1" marL="6858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Készlettörténet</a:t>
            </a:r>
            <a:endParaRPr/>
          </a:p>
          <a:p>
            <a:pPr indent="-266700" lvl="1" marL="6858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Felhasználók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65b4f49101343992_0_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Jogosultsági szintek</a:t>
            </a:r>
            <a:endParaRPr/>
          </a:p>
        </p:txBody>
      </p:sp>
      <p:sp>
        <p:nvSpPr>
          <p:cNvPr id="133" name="Google Shape;133;h65b4f49101343992_0_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527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A rendszerben négy különböző jogosultsági szint található:</a:t>
            </a:r>
            <a:br>
              <a:rPr lang="hu-HU" sz="2400"/>
            </a:br>
            <a:endParaRPr sz="2400"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hu-HU" sz="2400"/>
              <a:t>Raktárvezető:</a:t>
            </a:r>
            <a:r>
              <a:rPr lang="hu-HU" sz="2400"/>
              <a:t> teljes hozzáféréssel rendelkezik, valamint kezelheti a felhasználókat.</a:t>
            </a:r>
            <a:endParaRPr sz="2400"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hu-HU" sz="2400"/>
              <a:t>Raktáros:</a:t>
            </a:r>
            <a:r>
              <a:rPr lang="hu-HU" sz="2400"/>
              <a:t> termékeket vehet fel és módosíthat, valamint készletmozgásokat rögzíthet.</a:t>
            </a:r>
            <a:endParaRPr sz="2400"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hu-HU" sz="2400"/>
              <a:t>Kereskedő:</a:t>
            </a:r>
            <a:r>
              <a:rPr lang="hu-HU" sz="2400"/>
              <a:t> megtekintheti a termékeket és a készletet, valamint módosíthatja az eladási árat.</a:t>
            </a:r>
            <a:endParaRPr sz="2400"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hu-HU" sz="2400"/>
              <a:t>Anyagbeszerző:</a:t>
            </a:r>
            <a:r>
              <a:rPr lang="hu-HU" sz="2400"/>
              <a:t> megtekintheti a készletmennyiségeket és a minimum készlet alapján szükséges rendelési mennyiséget.</a:t>
            </a:r>
            <a:br>
              <a:rPr lang="hu-HU" sz="2400"/>
            </a:br>
            <a:endParaRPr sz="2400"/>
          </a:p>
          <a:p>
            <a:pPr indent="-25527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A jogosultságok ellenőrzése nem csak a frontendben, hanem a backendben is megtörténik.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65b4f49101343992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Termékkezelés</a:t>
            </a:r>
            <a:endParaRPr/>
          </a:p>
        </p:txBody>
      </p:sp>
      <p:sp>
        <p:nvSpPr>
          <p:cNvPr id="139" name="Google Shape;139;h65b4f49101343992_0_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4384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A </a:t>
            </a:r>
            <a:r>
              <a:rPr b="1" lang="hu-HU" sz="2400"/>
              <a:t>Termékek</a:t>
            </a:r>
            <a:r>
              <a:rPr lang="hu-HU" sz="2400"/>
              <a:t> oldalon a rendszerben tárolt termékek listája tekinthető meg. A felhasználó a termékeket keresheti, szűrheti és rendezheti. A megfelelő jogosultsággal rendelkező felhasználók új terméket vehetnek fel, illetve módosíthatják a meglévő termékek adatait. A termékekhez többek között az alábbi adatok tartoznak:</a:t>
            </a:r>
            <a:br>
              <a:rPr lang="hu-HU" sz="2400"/>
            </a:b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cikkszám és vonalkód</a:t>
            </a: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megnevezés</a:t>
            </a: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beszerzési és eladási ár</a:t>
            </a: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ÁFA</a:t>
            </a: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készlet és minimumkészlet</a:t>
            </a: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mértékegység</a:t>
            </a: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polchely</a:t>
            </a:r>
            <a:endParaRPr sz="2400"/>
          </a:p>
          <a:p>
            <a:pPr indent="-24384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kötegelési adatok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5b4f49101343992_0_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Készletmozgások</a:t>
            </a:r>
            <a:endParaRPr/>
          </a:p>
        </p:txBody>
      </p:sp>
      <p:sp>
        <p:nvSpPr>
          <p:cNvPr id="145" name="Google Shape;145;h65b4f49101343992_0_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A készletmozgások segítségével rögzíthetők a raktárban történő készletváltozások. A rendszer külön kezeli a készlet növekedésével és csökkenésével járó műveleteket. Összesen nyolc különböző mozgástípus használható:</a:t>
            </a:r>
            <a:br>
              <a:rPr lang="hu-HU" sz="2400"/>
            </a:br>
            <a:endParaRPr sz="2400"/>
          </a:p>
          <a:p>
            <a:pPr indent="-2667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hu-HU" sz="2400"/>
              <a:t>Készlet növelése: </a:t>
            </a:r>
            <a:r>
              <a:rPr lang="hu-HU" sz="2400"/>
              <a:t>Beszerzés, </a:t>
            </a:r>
            <a:r>
              <a:rPr lang="hu-HU" sz="2400"/>
              <a:t>Bizományos bevételezés,Téves selejtezés visszavétele, Saját rezsi anyag visszavétele</a:t>
            </a:r>
            <a:endParaRPr sz="2400"/>
          </a:p>
          <a:p>
            <a:pPr indent="-2667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hu-HU" sz="2400"/>
              <a:t>Készlet csökkentése: </a:t>
            </a:r>
            <a:r>
              <a:rPr lang="hu-HU" sz="2400"/>
              <a:t>Értékesítés, </a:t>
            </a:r>
            <a:r>
              <a:rPr lang="hu-HU" sz="2400"/>
              <a:t>Bizományos kiadás, Selejtezés, Saját rezsi felhasználás</a:t>
            </a:r>
            <a:br>
              <a:rPr lang="hu-HU" sz="2400"/>
            </a:br>
            <a:endParaRPr sz="2400"/>
          </a:p>
          <a:p>
            <a:pPr indent="-2667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A rendszer ellenőrzi a megadott mennyiséget és a mozgás típusát is.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5b4f49101343992_0_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Készlettörténet</a:t>
            </a:r>
            <a:endParaRPr/>
          </a:p>
        </p:txBody>
      </p:sp>
      <p:sp>
        <p:nvSpPr>
          <p:cNvPr id="151" name="Google Shape;151;h65b4f49101343992_0_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5527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hu-HU" sz="2400"/>
              <a:t>Minden rögzített készletmozgás bekerül a history táblába, így a korábbi műveletek később visszakereshetők. Ez biztosítja, hogy a készlet változásai utólag is nyomon követhetők legyenek. A rendszer többek között tárolja: </a:t>
            </a:r>
            <a:br>
              <a:rPr lang="hu-HU" sz="2400"/>
            </a:br>
            <a:endParaRPr sz="2400"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az érintett terméket</a:t>
            </a:r>
            <a:endParaRPr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 műveletet végző felhasználót</a:t>
            </a:r>
            <a:endParaRPr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 dátumot</a:t>
            </a:r>
            <a:endParaRPr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 bizonylatszámot</a:t>
            </a:r>
            <a:endParaRPr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 mennyiséget</a:t>
            </a:r>
            <a:endParaRPr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 mozgás irányát</a:t>
            </a:r>
            <a:endParaRPr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 beszerzési és eladási árat</a:t>
            </a:r>
            <a:endParaRPr/>
          </a:p>
          <a:p>
            <a:pPr indent="-25527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hu-HU"/>
              <a:t>a sorozatszámot, ha megadásra került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65b4f49101343992_0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Üzleti szabályok</a:t>
            </a:r>
            <a:endParaRPr/>
          </a:p>
        </p:txBody>
      </p:sp>
      <p:sp>
        <p:nvSpPr>
          <p:cNvPr id="157" name="Google Shape;157;h65b4f49101343992_0_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2400"/>
              <a:t>A fejlesztés során fontos szempont volt, hogy a raktári folyamatokból következő szabályokat a rendszer következetesen betartassa.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u-HU" sz="2400"/>
              <a:t>Néhány fontosabb szabály:</a:t>
            </a:r>
            <a:endParaRPr sz="24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Termék csak akkor törölhető, ha a készlete nulla.</a:t>
            </a:r>
            <a:endParaRPr sz="2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A készlet nem csökkenthető a rendelkezésre álló mennyiségnél nagyobb mennyiséggel.</a:t>
            </a:r>
            <a:endParaRPr sz="2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Az utolsó Raktárvezető nem törölhető és nem fokozható le.</a:t>
            </a:r>
            <a:endParaRPr sz="2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Készletmozgást csak megfelelő jogosultsággal rendelkező felhasználó rögzíthet.</a:t>
            </a:r>
            <a:endParaRPr sz="2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A jogosultsági ellenőrzések a backendben is megtörténnek.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65b4f49101343992_0_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Tesztelés</a:t>
            </a:r>
            <a:endParaRPr/>
          </a:p>
        </p:txBody>
      </p:sp>
      <p:sp>
        <p:nvSpPr>
          <p:cNvPr id="163" name="Google Shape;163;h65b4f49101343992_0_4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A rendszer működését manuális funkcionális teszteléssel ellenőriztük. A tesztelés során vizsgáltuk többek között a bejelentkezést, a jogosultságokat, a termékkezelést, a készletmozgásokat és a hibás műveletek kezelését.</a:t>
            </a:r>
            <a:endParaRPr sz="2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Összesen 25 tesztesetet vizsgáltunk.</a:t>
            </a:r>
            <a:endParaRPr sz="2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hu-HU" sz="2400"/>
              <a:t>A tesztelés eredménye alapján mind a 25 vizsgált esetben a rendszer a meghatározott módon működött, beleértve a jogosultságok és az üzleti szabályok ellenőrzését is.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65b4f49101343992_0_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Ismert korlátok</a:t>
            </a:r>
            <a:endParaRPr/>
          </a:p>
        </p:txBody>
      </p:sp>
      <p:sp>
        <p:nvSpPr>
          <p:cNvPr id="169" name="Google Shape;169;h65b4f49101343992_0_5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hu-HU" sz="2400"/>
              <a:t>Továbbfejlesztési lehetőségek</a:t>
            </a:r>
            <a:endParaRPr b="1"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hu-HU" sz="2400"/>
              <a:t>A jelenlegi rendszer a projektben meghatározott követelményeket megvalósítja, azonban további fejlesztési lehetőségek is rendelkezésre állnak. Ezek nem a jelenlegi rendszer hibái, hanem egy esetleges későbbi fejlesztési szakasz lehetőségei. Például:</a:t>
            </a: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Automatizált unit- és integrációs tesztek</a:t>
            </a: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Szerveroldali lapozás, keresés és szűrés</a:t>
            </a: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Részletesebb API-hibakezelés és naplózás</a:t>
            </a: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Készletriasztások és riportok</a:t>
            </a: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CSV/Excel export</a:t>
            </a: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Több telephely kezelése</a:t>
            </a: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 sz="2400"/>
              <a:t>Vonalkódolvasó-integráció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65b4f49101343992_0_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hu-HU"/>
              <a:t>Összefoglalás</a:t>
            </a:r>
            <a:endParaRPr/>
          </a:p>
        </p:txBody>
      </p:sp>
      <p:sp>
        <p:nvSpPr>
          <p:cNvPr id="175" name="Google Shape;175;h65b4f49101343992_0_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hu-HU" sz="2400"/>
              <a:t>A Raktárkezelő egy működő, háromrétegű webalkalmazás, amely MySQL adatbázisra, ASP.NET Core Web API backend-re és HTML/CSS/JavaScript frontend-re épül. A rendszer megvalósítja a raktári munka legfontosabb folyamatait: </a:t>
            </a:r>
            <a:br>
              <a:rPr lang="hu-HU" sz="2400"/>
            </a:br>
            <a:endParaRPr sz="2400"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termékek nyilvántartása</a:t>
            </a:r>
            <a:endParaRPr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készlet kezelése</a:t>
            </a:r>
            <a:endParaRPr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készletmozgások rögzítése</a:t>
            </a:r>
            <a:endParaRPr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készlettörténet visszakeresése</a:t>
            </a:r>
            <a:endParaRPr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hu-HU"/>
              <a:t>négy szerepkör szerinti jogosultságkezelés</a:t>
            </a:r>
            <a:endParaRPr/>
          </a:p>
          <a:p>
            <a:pPr indent="-228600" lvl="1" marL="685800" rtl="0" algn="l"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hu-HU"/>
              <a:t>felhasználók kezelése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5b4f49101343992_0_8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hu-HU"/>
              <a:t>Köszönjük a figyelmet!</a:t>
            </a:r>
            <a:br>
              <a:rPr lang="hu-HU"/>
            </a:br>
            <a:endParaRPr/>
          </a:p>
        </p:txBody>
      </p:sp>
      <p:sp>
        <p:nvSpPr>
          <p:cNvPr id="181" name="Google Shape;181;h65b4f49101343992_0_8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/>
              <a:t>Dobrocsi Zsolt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/>
              <a:t>Tempfli Vivien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2026-09-20T02:14:02Z</dcterms:created>
  <dc:creator>Zsolt DOBROCSI</dc:creator>
</cp:coreProperties>
</file>